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  <p:sldId id="264" r:id="rId9"/>
    <p:sldId id="261" r:id="rId10"/>
    <p:sldId id="263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4617"/>
  </p:normalViewPr>
  <p:slideViewPr>
    <p:cSldViewPr snapToGrid="0">
      <p:cViewPr varScale="1">
        <p:scale>
          <a:sx n="100" d="100"/>
          <a:sy n="100" d="100"/>
        </p:scale>
        <p:origin x="16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47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22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5420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590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48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471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606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583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95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111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580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656BB6D-E89C-0F41-BDB4-5DEB3A04F0E6}" type="datetimeFigureOut">
              <a:rPr kumimoji="1" lang="zh-CN" altLang="en-US" smtClean="0"/>
              <a:t>2025/11/9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EC13EBF-2B7D-5747-B06D-246292AE28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72180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E287B-B86B-A728-BED1-1B97C90A6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4762"/>
            <a:ext cx="9144000" cy="2387600"/>
          </a:xfrm>
        </p:spPr>
        <p:txBody>
          <a:bodyPr>
            <a:normAutofit/>
          </a:bodyPr>
          <a:lstStyle/>
          <a:p>
            <a:r>
              <a:rPr kumimoji="1" lang="zh-CN" altLang="en-US" sz="7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让摆烂成为一种常态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756277-83CA-CC33-73FD-5CFBF108A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4700" y="4033838"/>
            <a:ext cx="9144000" cy="1655762"/>
          </a:xfrm>
        </p:spPr>
        <p:txBody>
          <a:bodyPr/>
          <a:lstStyle/>
          <a:p>
            <a:pPr algn="r"/>
            <a:r>
              <a:rPr kumimoji="1" lang="en-US" altLang="zh-CN" dirty="0">
                <a:latin typeface="Songti SC" panose="02010600040101010101" pitchFamily="2" charset="-122"/>
                <a:ea typeface="Songti SC" panose="02010600040101010101" pitchFamily="2" charset="-122"/>
              </a:rPr>
              <a:t>——</a:t>
            </a:r>
            <a:r>
              <a:rPr kumimoji="1" lang="zh-CN" altLang="en-US" dirty="0">
                <a:latin typeface="Songti SC" panose="02010600040101010101" pitchFamily="2" charset="-122"/>
                <a:ea typeface="Songti SC" panose="02010600040101010101" pitchFamily="2" charset="-122"/>
              </a:rPr>
              <a:t>可持续摆烂研究所の中期答辩</a:t>
            </a:r>
          </a:p>
        </p:txBody>
      </p:sp>
    </p:spTree>
    <p:extLst>
      <p:ext uri="{BB962C8B-B14F-4D97-AF65-F5344CB8AC3E}">
        <p14:creationId xmlns:p14="http://schemas.microsoft.com/office/powerpoint/2010/main" val="252707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709122-BD1C-8739-A0B8-8D6676AD9861}"/>
              </a:ext>
            </a:extLst>
          </p:cNvPr>
          <p:cNvSpPr txBox="1"/>
          <p:nvPr/>
        </p:nvSpPr>
        <p:spPr>
          <a:xfrm>
            <a:off x="838200" y="3009900"/>
            <a:ext cx="10515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“文明，是自然深思熟虑的果实，而非它粗糙的对立面。”</a:t>
            </a:r>
            <a:endParaRPr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 algn="r"/>
            <a:endParaRPr kumimoji="1" lang="en-US" altLang="zh-CN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 algn="r"/>
            <a:endParaRPr lang="zh-CN" altLang="en-US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618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70369A-307F-D08B-2997-55679D85324B}"/>
              </a:ext>
            </a:extLst>
          </p:cNvPr>
          <p:cNvSpPr txBox="1"/>
          <p:nvPr/>
        </p:nvSpPr>
        <p:spPr>
          <a:xfrm>
            <a:off x="3759200" y="2551837"/>
            <a:ext cx="7289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一个刻入基因的</a:t>
            </a:r>
            <a:r>
              <a:rPr kumimoji="1" lang="zh-CN" altLang="en-US" sz="36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教训</a:t>
            </a:r>
            <a:endParaRPr kumimoji="1" lang="en-US" altLang="zh-CN" sz="3600" b="1" dirty="0">
              <a:solidFill>
                <a:srgbClr val="FF0000"/>
              </a:solidFill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一次痛定思痛的</a:t>
            </a:r>
            <a:r>
              <a:rPr kumimoji="1" lang="zh-CN" altLang="en-US" sz="36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重启</a:t>
            </a:r>
            <a:endParaRPr kumimoji="1" lang="en-US" altLang="zh-CN" sz="3600" b="1" dirty="0">
              <a:solidFill>
                <a:srgbClr val="FF0000"/>
              </a:solidFill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一个从头开始的</a:t>
            </a:r>
            <a:r>
              <a:rPr kumimoji="1" lang="zh-CN" altLang="en-US" sz="36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机会</a:t>
            </a:r>
          </a:p>
        </p:txBody>
      </p:sp>
    </p:spTree>
    <p:extLst>
      <p:ext uri="{BB962C8B-B14F-4D97-AF65-F5344CB8AC3E}">
        <p14:creationId xmlns:p14="http://schemas.microsoft.com/office/powerpoint/2010/main" val="14594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8FAE98-5B16-BF84-5EF1-9843EBFCB723}"/>
              </a:ext>
            </a:extLst>
          </p:cNvPr>
          <p:cNvSpPr txBox="1"/>
          <p:nvPr/>
        </p:nvSpPr>
        <p:spPr>
          <a:xfrm>
            <a:off x="3093720" y="1097230"/>
            <a:ext cx="6004560" cy="4297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40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内卷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，侵蚀着我们：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在重压的铁幕下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所有呐喊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都被迫滑入沉默的文档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于是人类决定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凿开一道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像素的</a:t>
            </a:r>
            <a:r>
              <a:rPr kumimoji="1" lang="zh-CN" altLang="en-US" sz="32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假窗</a:t>
            </a:r>
            <a:r>
              <a:rPr kumimoji="1" lang="en-US" altLang="zh-CN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26351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328A16-B6E8-8BF0-4D52-A94FD966C167}"/>
              </a:ext>
            </a:extLst>
          </p:cNvPr>
          <p:cNvSpPr txBox="1"/>
          <p:nvPr/>
        </p:nvSpPr>
        <p:spPr>
          <a:xfrm>
            <a:off x="1908048" y="1418001"/>
            <a:ext cx="9375648" cy="402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CR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，这项无限逼近现实的模拟技术</a:t>
            </a:r>
            <a:r>
              <a:rPr kumimoji="1" lang="zh-CN" altLang="en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的到来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让整个人类社会陷入沉迷。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对现实的过分忽略，对自然的持续漠视，最终酿成了惨剧。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一次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太阳风暴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冲破了这场美梦，将人类抛回了地狱般的现实。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记载着新地球坐标的手记，成为了最后一根救命稻草。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“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百万立方”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计划，载着人类文明的希望来到新世界。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然而新世界也并非坦途，人类仍面临着自然的考验，你们痛定思痛，摒弃旧文明的傲慢，把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融入自然、活在当下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作为新文明的准则。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一颗新种子终于在这片土地扎下了根。</a:t>
            </a:r>
          </a:p>
        </p:txBody>
      </p:sp>
    </p:spTree>
    <p:extLst>
      <p:ext uri="{BB962C8B-B14F-4D97-AF65-F5344CB8AC3E}">
        <p14:creationId xmlns:p14="http://schemas.microsoft.com/office/powerpoint/2010/main" val="231433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FF9F0C-64FE-B9D6-7A17-77FBFAA116C7}"/>
              </a:ext>
            </a:extLst>
          </p:cNvPr>
          <p:cNvSpPr txBox="1"/>
          <p:nvPr/>
        </p:nvSpPr>
        <p:spPr>
          <a:xfrm>
            <a:off x="890016" y="2889504"/>
            <a:ext cx="10838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如何在避免</a:t>
            </a:r>
            <a:r>
              <a:rPr kumimoji="1" lang="zh-CN" altLang="en-US" sz="48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“卷”</a:t>
            </a:r>
            <a:r>
              <a:rPr kumimoji="1" lang="zh-CN" altLang="en-US" sz="4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的同时实现</a:t>
            </a:r>
            <a:r>
              <a:rPr kumimoji="1" lang="zh-CN" altLang="en-US" sz="48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可持续</a:t>
            </a:r>
            <a:r>
              <a:rPr kumimoji="1" lang="en-US" altLang="zh-CN" sz="4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2507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8CF5F1A-EDC0-DACC-A321-FFCEB7B9927A}"/>
              </a:ext>
            </a:extLst>
          </p:cNvPr>
          <p:cNvSpPr txBox="1"/>
          <p:nvPr/>
        </p:nvSpPr>
        <p:spPr>
          <a:xfrm>
            <a:off x="1377696" y="1471541"/>
            <a:ext cx="10168128" cy="3914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设计理念：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我们追求的，是一种 </a:t>
            </a:r>
            <a:r>
              <a:rPr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“积极的可持续”</a:t>
            </a: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与</a:t>
            </a:r>
            <a:r>
              <a:rPr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“深刻的闲适” </a:t>
            </a: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相融合的生活：</a:t>
            </a:r>
            <a:endParaRPr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这不是</a:t>
            </a:r>
            <a:r>
              <a:rPr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逃离</a:t>
            </a: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现代文明的“摆烂”，</a:t>
            </a:r>
            <a:endParaRPr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而是选择一种更高级的</a:t>
            </a:r>
            <a:r>
              <a:rPr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回归</a:t>
            </a: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我们回到</a:t>
            </a:r>
            <a:r>
              <a:rPr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自然</a:t>
            </a: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的环抱，不是为了生存，</a:t>
            </a:r>
            <a:endParaRPr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而是为了更真切地感受</a:t>
            </a:r>
            <a:r>
              <a:rPr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存在</a:t>
            </a: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；</a:t>
            </a:r>
            <a:endParaRPr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我们享受</a:t>
            </a:r>
            <a:r>
              <a:rPr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当下</a:t>
            </a: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，不是为了放纵，</a:t>
            </a:r>
            <a:endParaRPr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而是为了与万物同步，重获生活的</a:t>
            </a:r>
            <a:r>
              <a:rPr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韵律与主权</a:t>
            </a:r>
            <a:r>
              <a:rPr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097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40BA10-C1A6-1D86-6DF4-25D7E29F2ED2}"/>
              </a:ext>
            </a:extLst>
          </p:cNvPr>
          <p:cNvSpPr txBox="1"/>
          <p:nvPr/>
        </p:nvSpPr>
        <p:spPr>
          <a:xfrm>
            <a:off x="3584448" y="2682240"/>
            <a:ext cx="50231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 dirty="0">
                <a:latin typeface="Songti SC Black" panose="02010600040101010101" pitchFamily="2" charset="-122"/>
                <a:ea typeface="Songti SC Black" panose="02010600040101010101" pitchFamily="2" charset="-122"/>
                <a:cs typeface="+mj-cs"/>
              </a:rPr>
              <a:t>基本情况</a:t>
            </a:r>
          </a:p>
        </p:txBody>
      </p:sp>
    </p:spTree>
    <p:extLst>
      <p:ext uri="{BB962C8B-B14F-4D97-AF65-F5344CB8AC3E}">
        <p14:creationId xmlns:p14="http://schemas.microsoft.com/office/powerpoint/2010/main" val="245961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9B57CB-BE69-12FD-B91D-21CD665DCD28}"/>
              </a:ext>
            </a:extLst>
          </p:cNvPr>
          <p:cNvSpPr txBox="1"/>
          <p:nvPr/>
        </p:nvSpPr>
        <p:spPr>
          <a:xfrm>
            <a:off x="2261616" y="816864"/>
            <a:ext cx="76687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地理位置：大理市洱源县</a:t>
            </a:r>
            <a:endParaRPr kumimoji="1" lang="en-US" altLang="zh-CN" sz="36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 algn="ctr"/>
            <a:endParaRPr kumimoji="1" lang="en-US" altLang="zh-CN" sz="36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 algn="ctr"/>
            <a:endParaRPr kumimoji="1" lang="zh-CN" altLang="en-US" sz="36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</p:txBody>
      </p:sp>
      <p:pic>
        <p:nvPicPr>
          <p:cNvPr id="4" name="图片 3" descr="地图&#10;&#10;AI 生成的内容可能不正确。">
            <a:extLst>
              <a:ext uri="{FF2B5EF4-FFF2-40B4-BE49-F238E27FC236}">
                <a16:creationId xmlns:a16="http://schemas.microsoft.com/office/drawing/2014/main" id="{E41081B5-786E-3F9B-B5C3-CADB12372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" y="2288337"/>
            <a:ext cx="3368802" cy="31112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EB075E-948B-F2B6-16A6-9F9F5B6E5CC8}"/>
              </a:ext>
            </a:extLst>
          </p:cNvPr>
          <p:cNvSpPr txBox="1"/>
          <p:nvPr/>
        </p:nvSpPr>
        <p:spPr>
          <a:xfrm>
            <a:off x="4956048" y="2488162"/>
            <a:ext cx="47183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苍山脚下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洱海之源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茈碧湖畔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充足的淡水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宜人的气候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</p:txBody>
      </p:sp>
      <p:pic>
        <p:nvPicPr>
          <p:cNvPr id="7" name="图片 6" descr="图示, 工程绘图&#10;&#10;AI 生成的内容可能不正确。">
            <a:extLst>
              <a:ext uri="{FF2B5EF4-FFF2-40B4-BE49-F238E27FC236}">
                <a16:creationId xmlns:a16="http://schemas.microsoft.com/office/drawing/2014/main" id="{EF39D4A9-DA1D-A69B-B919-77EA7D8F8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2547948"/>
            <a:ext cx="3858768" cy="24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5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156E32F-8660-3DCF-9933-B7EFC3FACD5B}"/>
              </a:ext>
            </a:extLst>
          </p:cNvPr>
          <p:cNvSpPr txBox="1"/>
          <p:nvPr/>
        </p:nvSpPr>
        <p:spPr>
          <a:xfrm>
            <a:off x="3785616" y="1097280"/>
            <a:ext cx="4620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人口：</a:t>
            </a:r>
            <a:r>
              <a:rPr kumimoji="1" lang="en-US" altLang="zh-CN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1011 </a:t>
            </a:r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人 </a:t>
            </a:r>
            <a:endParaRPr kumimoji="1" lang="en-US" altLang="zh-CN" sz="36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 algn="ctr"/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（男 </a:t>
            </a:r>
            <a:r>
              <a:rPr kumimoji="1" lang="en-US" altLang="zh-CN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506</a:t>
            </a:r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人 女 </a:t>
            </a:r>
            <a:r>
              <a:rPr kumimoji="1" lang="en-US" altLang="zh-CN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505</a:t>
            </a:r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人）</a:t>
            </a:r>
            <a:endParaRPr kumimoji="1" lang="en-US" altLang="zh-CN" sz="36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</p:txBody>
      </p:sp>
      <p:pic>
        <p:nvPicPr>
          <p:cNvPr id="4" name="图片 3" descr="门上写着字&#10;&#10;AI 生成的内容可能不正确。">
            <a:extLst>
              <a:ext uri="{FF2B5EF4-FFF2-40B4-BE49-F238E27FC236}">
                <a16:creationId xmlns:a16="http://schemas.microsoft.com/office/drawing/2014/main" id="{3FDF6FCA-4D1C-C27A-AE46-F10EB9C95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86307"/>
            <a:ext cx="7772400" cy="172429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24045D7-6226-BB43-C6EF-E6F791A1EDA3}"/>
              </a:ext>
            </a:extLst>
          </p:cNvPr>
          <p:cNvSpPr txBox="1"/>
          <p:nvPr/>
        </p:nvSpPr>
        <p:spPr>
          <a:xfrm>
            <a:off x="3150108" y="4929723"/>
            <a:ext cx="5891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有适应初期建设的充足劳动力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 algn="ctr"/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新生代的数量也足以支撑后续的养老需求</a:t>
            </a:r>
          </a:p>
        </p:txBody>
      </p:sp>
    </p:spTree>
    <p:extLst>
      <p:ext uri="{BB962C8B-B14F-4D97-AF65-F5344CB8AC3E}">
        <p14:creationId xmlns:p14="http://schemas.microsoft.com/office/powerpoint/2010/main" val="201941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55AF6D-F3C3-BCC9-F662-084C0394DB2E}"/>
              </a:ext>
            </a:extLst>
          </p:cNvPr>
          <p:cNvSpPr txBox="1"/>
          <p:nvPr/>
        </p:nvSpPr>
        <p:spPr>
          <a:xfrm>
            <a:off x="4206240" y="2182368"/>
            <a:ext cx="37795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预期人均能耗：</a:t>
            </a:r>
            <a:r>
              <a:rPr kumimoji="1" lang="en-US" altLang="zh-CN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9879kWh/y</a:t>
            </a:r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 </a:t>
            </a:r>
            <a:endParaRPr kumimoji="1" lang="en-US" altLang="zh-CN" sz="36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 algn="ctr"/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总需求：</a:t>
            </a:r>
            <a:r>
              <a:rPr kumimoji="1" lang="en-US" altLang="zh-CN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10^7kWh/y</a:t>
            </a:r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  </a:t>
            </a:r>
            <a:endParaRPr kumimoji="1" lang="en-US" altLang="zh-CN" sz="36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591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8F95D1-3F3D-91A8-5FA6-E0EFE7CD3E6E}"/>
              </a:ext>
            </a:extLst>
          </p:cNvPr>
          <p:cNvSpPr txBox="1"/>
          <p:nvPr/>
        </p:nvSpPr>
        <p:spPr>
          <a:xfrm>
            <a:off x="2913888" y="2743200"/>
            <a:ext cx="73883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latin typeface="Songti SC Black" panose="02010600040101010101" pitchFamily="2" charset="-122"/>
                <a:ea typeface="Songti SC Black" panose="02010600040101010101" pitchFamily="2" charset="-122"/>
                <a:cs typeface="+mj-cs"/>
              </a:rPr>
              <a:t>融入自然 和谐共生</a:t>
            </a:r>
          </a:p>
        </p:txBody>
      </p:sp>
    </p:spTree>
    <p:extLst>
      <p:ext uri="{BB962C8B-B14F-4D97-AF65-F5344CB8AC3E}">
        <p14:creationId xmlns:p14="http://schemas.microsoft.com/office/powerpoint/2010/main" val="125420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719F88-5DC1-0CF3-D4A2-56DDB023F8CA}"/>
              </a:ext>
            </a:extLst>
          </p:cNvPr>
          <p:cNvSpPr txBox="1"/>
          <p:nvPr/>
        </p:nvSpPr>
        <p:spPr>
          <a:xfrm>
            <a:off x="1816608" y="1418001"/>
            <a:ext cx="8558784" cy="402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“根”、“叶”与“茎”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：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地热能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提供了能源稳定供给的根基，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太阳能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成为了自给自足、开枝散叶的途径，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电能、氢能、生物燃料组成的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二级能源系统</a:t>
            </a:r>
            <a:endParaRPr kumimoji="1" lang="en-US" altLang="zh-CN" sz="2400" b="1" dirty="0">
              <a:solidFill>
                <a:srgbClr val="FF0000"/>
              </a:solidFill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支撑着庞大的能源网络，像枝茎一样将能源带往整个社区。</a:t>
            </a:r>
          </a:p>
          <a:p>
            <a:pPr>
              <a:lnSpc>
                <a:spcPct val="120000"/>
              </a:lnSpc>
            </a:pP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能源系统像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一株有生命的植物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，扎根大地，沐浴阳光。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通过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动态调节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，能够在稳定供给的同时降低对外界的影响，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乃至于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反哺自然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，维持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平衡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8F0B6A-ACD3-5D98-EC18-D06E109ED2AC}"/>
              </a:ext>
            </a:extLst>
          </p:cNvPr>
          <p:cNvSpPr txBox="1"/>
          <p:nvPr/>
        </p:nvSpPr>
        <p:spPr>
          <a:xfrm>
            <a:off x="186267" y="135466"/>
            <a:ext cx="1253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能源</a:t>
            </a:r>
          </a:p>
        </p:txBody>
      </p:sp>
    </p:spTree>
    <p:extLst>
      <p:ext uri="{BB962C8B-B14F-4D97-AF65-F5344CB8AC3E}">
        <p14:creationId xmlns:p14="http://schemas.microsoft.com/office/powerpoint/2010/main" val="113855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353522-3CFE-EF81-8D10-682BCA38199E}"/>
              </a:ext>
            </a:extLst>
          </p:cNvPr>
          <p:cNvSpPr txBox="1"/>
          <p:nvPr/>
        </p:nvSpPr>
        <p:spPr>
          <a:xfrm>
            <a:off x="1438656" y="1670899"/>
            <a:ext cx="9534144" cy="317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建筑不应是征服自然的纪念碑，而应是自然景观的有机延伸。</a:t>
            </a:r>
          </a:p>
          <a:p>
            <a:pPr>
              <a:lnSpc>
                <a:spcPct val="120000"/>
              </a:lnSpc>
            </a:pPr>
            <a:endParaRPr kumimoji="1" lang="en-US" altLang="zh-CN" sz="28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我们向地形、风向与阳光学习，让建筑如植物般从自然中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生长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出来。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它拥有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会呼吸的表皮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，可以为鸟类、昆虫与植物提供新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栖息地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在这里，文明与自然的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边界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被温柔地消解，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二者共同构成一个充满生命力的整体。</a:t>
            </a:r>
          </a:p>
          <a:p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CB6F70-9DDF-DAA8-4A84-90A6B7C31DF7}"/>
              </a:ext>
            </a:extLst>
          </p:cNvPr>
          <p:cNvSpPr txBox="1"/>
          <p:nvPr/>
        </p:nvSpPr>
        <p:spPr>
          <a:xfrm>
            <a:off x="186267" y="135466"/>
            <a:ext cx="1253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建筑</a:t>
            </a:r>
          </a:p>
        </p:txBody>
      </p:sp>
    </p:spTree>
    <p:extLst>
      <p:ext uri="{BB962C8B-B14F-4D97-AF65-F5344CB8AC3E}">
        <p14:creationId xmlns:p14="http://schemas.microsoft.com/office/powerpoint/2010/main" val="218112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FC971C-1F32-FE86-1FD7-2BB546E72962}"/>
              </a:ext>
            </a:extLst>
          </p:cNvPr>
          <p:cNvSpPr txBox="1"/>
          <p:nvPr/>
        </p:nvSpPr>
        <p:spPr>
          <a:xfrm>
            <a:off x="1511808" y="1085602"/>
            <a:ext cx="11204448" cy="4686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真正的环保，不是保护自然，而是</a:t>
            </a:r>
            <a:r>
              <a:rPr kumimoji="1" lang="zh-CN" altLang="en-US" sz="32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成为自然的一部分</a:t>
            </a: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endParaRPr kumimoji="1" lang="en-US" altLang="zh-CN" sz="28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从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治理自然，到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将治理权交还自然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合理的建筑结构和四季如春的气候共同造就了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无需空调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的奇迹；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废水废物在社区内循环净化，实现“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零污染”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输出；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垂直农业效仿森林，构建一个个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微型生态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放弃与天斗、与地斗的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“人定胜天”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思维，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我们顺应自然规律，利用生态系统的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自我平衡与修复能力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只需观察和欣赏，而非干预和改造。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35CC46-49B0-0B3A-4FA5-83582F17B172}"/>
              </a:ext>
            </a:extLst>
          </p:cNvPr>
          <p:cNvSpPr txBox="1"/>
          <p:nvPr/>
        </p:nvSpPr>
        <p:spPr>
          <a:xfrm>
            <a:off x="186267" y="135466"/>
            <a:ext cx="1253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环境？</a:t>
            </a:r>
          </a:p>
        </p:txBody>
      </p:sp>
    </p:spTree>
    <p:extLst>
      <p:ext uri="{BB962C8B-B14F-4D97-AF65-F5344CB8AC3E}">
        <p14:creationId xmlns:p14="http://schemas.microsoft.com/office/powerpoint/2010/main" val="99503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86ACAC3-8290-0C91-5979-656ED7AFF4B0}"/>
              </a:ext>
            </a:extLst>
          </p:cNvPr>
          <p:cNvSpPr txBox="1"/>
          <p:nvPr/>
        </p:nvSpPr>
        <p:spPr>
          <a:xfrm>
            <a:off x="3096768" y="1787332"/>
            <a:ext cx="7034784" cy="328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我睁开眼，自然</a:t>
            </a:r>
            <a:r>
              <a:rPr kumimoji="1" lang="zh-CN" altLang="en-US" sz="32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扑面而来</a:t>
            </a: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3200" b="1" dirty="0">
              <a:solidFill>
                <a:srgbClr val="FF0000"/>
              </a:solidFill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在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苍山洱海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间感受自然摄人心魄的美丽，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在随处可见的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温泉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中用身体测量大地的温度，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乃至坐上载具去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别的世界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转一圈</a:t>
            </a:r>
            <a:r>
              <a:rPr kumimoji="1" lang="en-US" altLang="zh-CN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……</a:t>
            </a:r>
          </a:p>
          <a:p>
            <a:pPr>
              <a:lnSpc>
                <a:spcPct val="120000"/>
              </a:lnSpc>
            </a:pP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世界从未如此生动地呈现在我眼前。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5CA3E0-A9C0-B6BE-1F0B-627F4560E91D}"/>
              </a:ext>
            </a:extLst>
          </p:cNvPr>
          <p:cNvSpPr txBox="1"/>
          <p:nvPr/>
        </p:nvSpPr>
        <p:spPr>
          <a:xfrm>
            <a:off x="186267" y="135466"/>
            <a:ext cx="1253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休闲</a:t>
            </a:r>
          </a:p>
        </p:txBody>
      </p:sp>
    </p:spTree>
    <p:extLst>
      <p:ext uri="{BB962C8B-B14F-4D97-AF65-F5344CB8AC3E}">
        <p14:creationId xmlns:p14="http://schemas.microsoft.com/office/powerpoint/2010/main" val="204016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DD1410-17B2-97D9-E37C-F695AAF623C0}"/>
              </a:ext>
            </a:extLst>
          </p:cNvPr>
          <p:cNvSpPr txBox="1"/>
          <p:nvPr/>
        </p:nvSpPr>
        <p:spPr>
          <a:xfrm>
            <a:off x="2950464" y="2767584"/>
            <a:ext cx="7437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latin typeface="Songti SC Black" panose="02010600040101010101" pitchFamily="2" charset="-122"/>
                <a:ea typeface="Songti SC Black" panose="02010600040101010101" pitchFamily="2" charset="-122"/>
                <a:cs typeface="+mj-cs"/>
              </a:rPr>
              <a:t>活在当下 感受生命</a:t>
            </a:r>
          </a:p>
        </p:txBody>
      </p:sp>
    </p:spTree>
    <p:extLst>
      <p:ext uri="{BB962C8B-B14F-4D97-AF65-F5344CB8AC3E}">
        <p14:creationId xmlns:p14="http://schemas.microsoft.com/office/powerpoint/2010/main" val="156242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D58F75-61A8-1F75-BDF2-88BFBAE825C7}"/>
              </a:ext>
            </a:extLst>
          </p:cNvPr>
          <p:cNvSpPr txBox="1"/>
          <p:nvPr/>
        </p:nvSpPr>
        <p:spPr>
          <a:xfrm>
            <a:off x="2036064" y="1317313"/>
            <a:ext cx="870508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舒适，</a:t>
            </a:r>
            <a:r>
              <a:rPr kumimoji="1" lang="zh-CN" altLang="en-US" sz="32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并非</a:t>
            </a: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源于对资源的挥霍，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而是来自科技与智慧对生活的</a:t>
            </a:r>
            <a:r>
              <a:rPr kumimoji="1" lang="zh-CN" altLang="en-US" sz="32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无声呵护</a:t>
            </a: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endParaRPr kumimoji="1" lang="zh-CN" altLang="en-US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它意味着：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由阳光和清风调节的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恒爽气候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，循环纯净的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空气与水源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，由自然食材与智能物流保障的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充沛物质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，以及被高效自动化解放的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个人时间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endParaRPr kumimoji="1" lang="zh-CN" altLang="en-US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一切技术的终点，是让生活回归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从容、体面与自在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设计的目的，是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感受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，然后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享受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活着这件事本身。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D9B8EB-4067-2EA8-00AB-32047A3DAE99}"/>
              </a:ext>
            </a:extLst>
          </p:cNvPr>
          <p:cNvSpPr txBox="1"/>
          <p:nvPr/>
        </p:nvSpPr>
        <p:spPr>
          <a:xfrm>
            <a:off x="186267" y="135466"/>
            <a:ext cx="1253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科技</a:t>
            </a:r>
          </a:p>
        </p:txBody>
      </p:sp>
    </p:spTree>
    <p:extLst>
      <p:ext uri="{BB962C8B-B14F-4D97-AF65-F5344CB8AC3E}">
        <p14:creationId xmlns:p14="http://schemas.microsoft.com/office/powerpoint/2010/main" val="378120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C464FB-DA9D-F8DC-BA95-AFE3AEBE39DD}"/>
              </a:ext>
            </a:extLst>
          </p:cNvPr>
          <p:cNvSpPr txBox="1"/>
          <p:nvPr/>
        </p:nvSpPr>
        <p:spPr>
          <a:xfrm>
            <a:off x="2426208" y="1474619"/>
            <a:ext cx="819302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在这里，活出</a:t>
            </a:r>
            <a:r>
              <a:rPr kumimoji="1" lang="zh-CN" altLang="en-US" sz="32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生命</a:t>
            </a: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真实的模样。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高度开放的环境，</a:t>
            </a:r>
            <a:r>
              <a:rPr kumimoji="1" lang="en-US" altLang="zh-CN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AI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赋能民主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高效与公平并存，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稳定的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社会保障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，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贡献值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的分配，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三大科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的自由选择，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过程性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的评定与身份的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自由转换</a:t>
            </a:r>
            <a:r>
              <a:rPr kumimoji="1" lang="en-US" altLang="zh-CN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……</a:t>
            </a:r>
          </a:p>
          <a:p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在这里，个体从内卷的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焦虑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与消费的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躁动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中解脱，其意志得以遵循内在的节奏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自由探索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en-US" altLang="zh-CN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——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无论是专注于创造、沉思于自我，还是投身于社区，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每一种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“成为”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都将被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鼓励和滋养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9DDAE7-4ED4-0347-1B28-D1A1A4DAEA1D}"/>
              </a:ext>
            </a:extLst>
          </p:cNvPr>
          <p:cNvSpPr txBox="1"/>
          <p:nvPr/>
        </p:nvSpPr>
        <p:spPr>
          <a:xfrm>
            <a:off x="186267" y="135466"/>
            <a:ext cx="1253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人群</a:t>
            </a:r>
          </a:p>
        </p:txBody>
      </p:sp>
    </p:spTree>
    <p:extLst>
      <p:ext uri="{BB962C8B-B14F-4D97-AF65-F5344CB8AC3E}">
        <p14:creationId xmlns:p14="http://schemas.microsoft.com/office/powerpoint/2010/main" val="52271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609308-FE03-7D12-4516-552F70902917}"/>
              </a:ext>
            </a:extLst>
          </p:cNvPr>
          <p:cNvSpPr txBox="1"/>
          <p:nvPr/>
        </p:nvSpPr>
        <p:spPr>
          <a:xfrm>
            <a:off x="1767840" y="2028616"/>
            <a:ext cx="933907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在全身心的投入中感受生命的</a:t>
            </a:r>
            <a:r>
              <a:rPr kumimoji="1" lang="zh-CN" altLang="en-US" sz="32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鲜活</a:t>
            </a:r>
            <a:r>
              <a:rPr kumimoji="1" lang="zh-CN" altLang="en-US" sz="3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。</a:t>
            </a:r>
            <a:endParaRPr kumimoji="1" lang="en-US" altLang="zh-CN" sz="3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从大型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游憩枢纽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到楼下的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小型影院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；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从 </a:t>
            </a:r>
            <a:r>
              <a:rPr kumimoji="1" lang="en-US" altLang="zh-CN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CR 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博物馆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的沉重，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“主图”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的安静到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社团活动区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的欢声笑语；</a:t>
            </a:r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从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体育场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的喧闹，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艺术创作区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的灵感到</a:t>
            </a:r>
            <a:r>
              <a:rPr kumimoji="1" lang="zh-CN" altLang="en-US" sz="2400" b="1" dirty="0">
                <a:solidFill>
                  <a:srgbClr val="FF0000"/>
                </a:solidFill>
                <a:latin typeface="Songti SC Black" panose="02010600040101010101" pitchFamily="2" charset="-122"/>
                <a:ea typeface="Songti SC Black" panose="02010600040101010101" pitchFamily="2" charset="-122"/>
              </a:rPr>
              <a:t>星空观测台</a:t>
            </a:r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上宇宙的无垠</a:t>
            </a:r>
            <a:r>
              <a:rPr kumimoji="1" lang="en-US" altLang="zh-CN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……</a:t>
            </a:r>
          </a:p>
          <a:p>
            <a:endParaRPr kumimoji="1" lang="en-US" altLang="zh-CN" sz="24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生活的千姿百态，由每一个人定义。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4DF64F-007C-36C0-A4A8-14095AC606C8}"/>
              </a:ext>
            </a:extLst>
          </p:cNvPr>
          <p:cNvSpPr txBox="1"/>
          <p:nvPr/>
        </p:nvSpPr>
        <p:spPr>
          <a:xfrm>
            <a:off x="186267" y="135466"/>
            <a:ext cx="1253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游憩</a:t>
            </a:r>
          </a:p>
        </p:txBody>
      </p:sp>
    </p:spTree>
    <p:extLst>
      <p:ext uri="{BB962C8B-B14F-4D97-AF65-F5344CB8AC3E}">
        <p14:creationId xmlns:p14="http://schemas.microsoft.com/office/powerpoint/2010/main" val="90911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617900-50CA-0556-6037-649EB59FBE0F}"/>
              </a:ext>
            </a:extLst>
          </p:cNvPr>
          <p:cNvSpPr txBox="1"/>
          <p:nvPr/>
        </p:nvSpPr>
        <p:spPr>
          <a:xfrm>
            <a:off x="3011424" y="1175772"/>
            <a:ext cx="69006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36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反思：</a:t>
            </a:r>
            <a:endParaRPr kumimoji="1" lang="en-US" altLang="zh-CN" sz="36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尽管有了一个完整的故事和逻辑链，</a:t>
            </a:r>
            <a:endParaRPr kumimoji="1" lang="en-US" altLang="zh-CN" sz="28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但我们的数据存在不足乃至对不上的情况，</a:t>
            </a:r>
            <a:endParaRPr kumimoji="1" lang="en-US" altLang="zh-CN" sz="28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设计也不够完善，</a:t>
            </a:r>
            <a:endParaRPr kumimoji="1" lang="en-US" altLang="zh-CN" sz="28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参考文献还有缺漏。</a:t>
            </a:r>
            <a:endParaRPr kumimoji="1" lang="en-US" altLang="zh-CN" sz="28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endParaRPr kumimoji="1" lang="en-US" altLang="zh-CN" sz="28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  <a:p>
            <a:r>
              <a:rPr kumimoji="1" lang="zh-CN" altLang="en-US" sz="28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总之，冬学期继续努力！！！</a:t>
            </a:r>
          </a:p>
        </p:txBody>
      </p:sp>
    </p:spTree>
    <p:extLst>
      <p:ext uri="{BB962C8B-B14F-4D97-AF65-F5344CB8AC3E}">
        <p14:creationId xmlns:p14="http://schemas.microsoft.com/office/powerpoint/2010/main" val="243364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774CD0-E297-5C1D-349F-5ACBDDC78DA4}"/>
              </a:ext>
            </a:extLst>
          </p:cNvPr>
          <p:cNvSpPr txBox="1"/>
          <p:nvPr/>
        </p:nvSpPr>
        <p:spPr>
          <a:xfrm>
            <a:off x="3755136" y="1777567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latin typeface="Songti SC Black" panose="02010600040101010101" pitchFamily="2" charset="-122"/>
                <a:ea typeface="Songti SC Black" panose="02010600040101010101" pitchFamily="2" charset="-122"/>
              </a:rPr>
              <a:t>感谢！！！</a:t>
            </a:r>
            <a:endParaRPr kumimoji="1" lang="en-US" altLang="zh-CN" sz="7200" b="1" dirty="0">
              <a:latin typeface="Songti SC Black" panose="02010600040101010101" pitchFamily="2" charset="-122"/>
              <a:ea typeface="Songti SC Black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93FB96-543D-9FB7-FF21-48CF17F8EF88}"/>
              </a:ext>
            </a:extLst>
          </p:cNvPr>
          <p:cNvSpPr txBox="1"/>
          <p:nvPr/>
        </p:nvSpPr>
        <p:spPr>
          <a:xfrm>
            <a:off x="4047744" y="3535680"/>
            <a:ext cx="3377184" cy="1717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Songti SC" panose="02010600040101010101" pitchFamily="2" charset="-122"/>
                <a:ea typeface="Songti SC" panose="02010600040101010101" pitchFamily="2" charset="-122"/>
              </a:rPr>
              <a:t>   鸣谢：</a:t>
            </a:r>
            <a:endParaRPr kumimoji="1" lang="en-US" altLang="zh-CN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Songti SC" panose="02010600040101010101" pitchFamily="2" charset="-122"/>
                <a:ea typeface="Songti SC" panose="02010600040101010101" pitchFamily="2" charset="-122"/>
              </a:rPr>
              <a:t>可持续摆烂研究所全体组员</a:t>
            </a:r>
            <a:endParaRPr kumimoji="1" lang="en-US" altLang="zh-CN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Songti SC" panose="02010600040101010101" pitchFamily="2" charset="-122"/>
                <a:ea typeface="Songti SC" panose="02010600040101010101" pitchFamily="2" charset="-122"/>
              </a:rPr>
              <a:t>所有老师和助教老师</a:t>
            </a:r>
            <a:endParaRPr kumimoji="1" lang="en-US" altLang="zh-CN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Songti SC" panose="02010600040101010101" pitchFamily="2" charset="-122"/>
                <a:ea typeface="Songti SC" panose="02010600040101010101" pitchFamily="2" charset="-122"/>
              </a:rPr>
              <a:t>还有我们至高无上的主</a:t>
            </a:r>
            <a:endParaRPr kumimoji="1" lang="en-US" altLang="zh-CN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988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788</TotalTime>
  <Words>1074</Words>
  <Application>Microsoft Macintosh PowerPoint</Application>
  <PresentationFormat>宽屏</PresentationFormat>
  <Paragraphs>120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Songti SC</vt:lpstr>
      <vt:lpstr>Songti SC Black</vt:lpstr>
      <vt:lpstr>Aptos</vt:lpstr>
      <vt:lpstr>Aptos Display</vt:lpstr>
      <vt:lpstr>Arial</vt:lpstr>
      <vt:lpstr>Office 主题​​</vt:lpstr>
      <vt:lpstr>让摆烂成为一种常态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协成 谈</dc:creator>
  <cp:lastModifiedBy>协成 谈</cp:lastModifiedBy>
  <cp:revision>3</cp:revision>
  <dcterms:created xsi:type="dcterms:W3CDTF">2025-11-08T10:26:59Z</dcterms:created>
  <dcterms:modified xsi:type="dcterms:W3CDTF">2025-11-09T15:30:33Z</dcterms:modified>
</cp:coreProperties>
</file>